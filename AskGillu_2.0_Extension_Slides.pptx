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9072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</a:rPr>
              <a:t>Shri Ramswaroop Memorial University, Lucknow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AskGillu 2.0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</a:rPr>
              <a:t>Towards an Agentic, Multimodal &amp; Multilingual University Intelligence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1540" y="310896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3949A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91540" y="3108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🤖  Agentic RAG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66060" y="310896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3949A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66060" y="3108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🌐  Multilingual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40580" y="310896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3949A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40580" y="3108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Real-Time Ingestion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15100" y="310896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3949A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15100" y="3108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🖼️  Multimodal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Presented By: Shrinjay Shresth  |  202210101110231  |  B.Tech (CSE)-87/88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Under Supervision of: Er. Ankit Kr. Maurya, DCSE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37E"/>
                </a:solidFill>
              </a:rPr>
              <a:t>Shri Ramswaroop Memorial University, Lucknow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37E"/>
                </a:solidFill>
              </a:rPr>
              <a:t>Why Extend AskGillu?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❑  Motivation &amp; Gap Analysis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54864" cy="13258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4632" y="14904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No Action Capability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" y="18288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AskGillu answers questions but cannot perform tasks — book rooms, raise complaints, check fee status.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09160" y="1417320"/>
            <a:ext cx="54864" cy="13258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463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73752" y="14904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Text-Only Understanding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3752" y="18288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Cannot process scanned notices, timetable images, fee receipt PDFs or visual documents.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0040" y="2926080"/>
            <a:ext cx="54864" cy="13258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4632" y="29992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English-Only Interface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" y="333756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Students who prefer Hindi are excluded from seamless interaction with the system.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09160" y="2926080"/>
            <a:ext cx="54864" cy="13258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463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⏳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873752" y="29992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Static Knowledge Base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73752" y="333756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</a:rPr>
              <a:t>New circulars or policy documents require manual re-indexing; no live document awareness.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315968"/>
            <a:ext cx="8503920" cy="548640"/>
          </a:xfrm>
          <a:prstGeom prst="rect">
            <a:avLst/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11480" y="4343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7E"/>
                </a:solidFill>
              </a:rPr>
              <a:t>💡  AskGillu 2.0 addresses all four gaps — transforming a knowledge retrieval system into a fully intelligent university assistant.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37E"/>
                </a:solidFill>
              </a:rPr>
              <a:t>Shri Ramswaroop Memorial University, Lucknow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37E"/>
                </a:solidFill>
              </a:rPr>
              <a:t>AskGillu 2.0 — Four Extension Pillars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❑  New Functionalities Overview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196596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</a:rPr>
              <a:t>Agentic RAG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233172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46E7A"/>
                </a:solidFill>
              </a:rPr>
              <a:t>AI that acts, not just answers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1508760" cy="0"/>
          </a:xfrm>
          <a:prstGeom prst="line">
            <a:avLst/>
          </a:prstGeom>
          <a:noFill/>
          <a:ln w="12700">
            <a:solidFill>
              <a:srgbClr val="D0D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278892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</a:rPr>
              <a:t>LangGraph-powered agents with tools: book_facility(), check_fee(), raise_grievance(). Intent detection routes queries to the right tool.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37160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468880" y="1371600"/>
            <a:ext cx="1965960" cy="502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468880" y="1371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60320" y="1920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1B9A"/>
                </a:solidFill>
              </a:rPr>
              <a:t>Multimodal Input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42032" y="233172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46E7A"/>
                </a:solidFill>
              </a:rPr>
              <a:t>See, read and understand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97480" y="2697480"/>
            <a:ext cx="1508760" cy="0"/>
          </a:xfrm>
          <a:prstGeom prst="line">
            <a:avLst/>
          </a:prstGeom>
          <a:noFill/>
          <a:ln w="12700">
            <a:solidFill>
              <a:srgbClr val="D0D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560320" y="278892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</a:rPr>
              <a:t>Vision pipeline (LLaVA/GPT-4V) processes scanned PDFs, images, timetables → text extraction → fed into GraphRAG knowledge graph.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137160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617720" y="1371600"/>
            <a:ext cx="1965960" cy="5029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17720" y="1371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09160" y="1920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95C"/>
                </a:solidFill>
              </a:rPr>
              <a:t>Real-Time Ingestion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90872" y="233172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46E7A"/>
                </a:solidFill>
              </a:rPr>
              <a:t>Always up-to-date knowledge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697480"/>
            <a:ext cx="1508760" cy="0"/>
          </a:xfrm>
          <a:prstGeom prst="line">
            <a:avLst/>
          </a:prstGeom>
          <a:noFill/>
          <a:ln w="12700">
            <a:solidFill>
              <a:srgbClr val="D0D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09160" y="278892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</a:rPr>
              <a:t>File watcher monitors document folders. New notice uploaded → auto-chunked → entities extracted → graph updated incrementally.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1371600"/>
            <a:ext cx="1965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766560" y="1371600"/>
            <a:ext cx="1965960" cy="50292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766560" y="13716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58000" y="19202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F360C"/>
                </a:solidFill>
              </a:rPr>
              <a:t>Multilingual (Hindi-English)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39712" y="233172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46E7A"/>
                </a:solidFill>
              </a:rPr>
              <a:t>Speak your language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95160" y="2697480"/>
            <a:ext cx="1508760" cy="0"/>
          </a:xfrm>
          <a:prstGeom prst="line">
            <a:avLst/>
          </a:prstGeom>
          <a:noFill/>
          <a:ln w="12700">
            <a:solidFill>
              <a:srgbClr val="D0D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858000" y="278892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</a:rPr>
              <a:t>IndicTrans2 handles Hindi ↔ English translation at query and response layer. Students ask in Hindi, get answers in Hindi.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37E"/>
                </a:solidFill>
              </a:rPr>
              <a:t>Shri Ramswaroop Memorial University, Lucknow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37E"/>
                </a:solidFill>
              </a:rPr>
              <a:t>Feature Deep Dive — Agentic RAG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❑  How the Agent Layer Works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41732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Query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Natural language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(action or info)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28216" y="1874520"/>
            <a:ext cx="292608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892808" y="17373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57400" y="1417320"/>
            <a:ext cx="1417320" cy="9144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057400" y="1508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Classifier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57400" y="1920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Action vs.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Knowledge query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11296" y="1874520"/>
            <a:ext cx="292608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75888" y="17373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1417320"/>
            <a:ext cx="1417320" cy="9144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840480" y="1508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Router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1920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LangGraph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orchestration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94376" y="1874520"/>
            <a:ext cx="292608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58968" y="17373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23560" y="1417320"/>
            <a:ext cx="1417320" cy="91440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623560" y="1508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 Use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GraphRAG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23560" y="1920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Acts or retrieves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from graph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77456" y="1874520"/>
            <a:ext cx="292608" cy="0"/>
          </a:xfrm>
          <a:prstGeom prst="line">
            <a:avLst/>
          </a:prstGeom>
          <a:noFill/>
          <a:ln w="254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242048" y="17373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7E"/>
                </a:solidFill>
              </a:rPr>
              <a:t>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06640" y="1417320"/>
            <a:ext cx="141732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406640" y="1508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06640" y="1920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Answer 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confirmation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</a:rPr>
              <a:t>Agent Tools Available: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2834640"/>
            <a:ext cx="3840480" cy="347472"/>
          </a:xfrm>
          <a:prstGeom prst="rect">
            <a:avLst/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2920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49AB"/>
                </a:solidFill>
              </a:rPr>
              <a:t>check_fee_status()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31720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→  Query student fee records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264408"/>
            <a:ext cx="3840480" cy="347472"/>
          </a:xfrm>
          <a:prstGeom prst="rect">
            <a:avLst/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02920" y="32644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49AB"/>
                </a:solidFill>
              </a:rPr>
              <a:t>book_facility()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331720" y="3264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→  Reserve labs, seminar halls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694176"/>
            <a:ext cx="3840480" cy="347472"/>
          </a:xfrm>
          <a:prstGeom prst="rect">
            <a:avLst/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02920" y="36941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49AB"/>
                </a:solidFill>
              </a:rPr>
              <a:t>raise_grievance()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331720" y="36941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→  Submit &amp; track complaints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123944"/>
            <a:ext cx="3840480" cy="347472"/>
          </a:xfrm>
          <a:prstGeom prst="rect">
            <a:avLst/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02920" y="41239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49AB"/>
                </a:solidFill>
              </a:rPr>
              <a:t>get_exam_schedule()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331720" y="41239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→  Fetch timetable for branch/sem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2468880"/>
            <a:ext cx="3931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93776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</a:rPr>
              <a:t>AskGillu vs AskGillu 2.0</a:t>
            </a:r>
            <a:endParaRPr lang="en-US" sz="12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2880360"/>
          <a:ext cx="3794760" cy="1920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v1.0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v2.0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Mode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Retrieval only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695C"/>
                          </a:solidFill>
                        </a:rPr>
                        <a:t>Retrieval + Action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Query type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Info questions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695C"/>
                          </a:solidFill>
                        </a:rPr>
                        <a:t>Info + Task requests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Output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Text answer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Answer or Action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Architecture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GraphRAG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695C"/>
                          </a:solidFill>
                        </a:rPr>
                        <a:t>GraphRAG + LangGraph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37E"/>
                </a:solidFill>
              </a:rPr>
              <a:t>Shri Ramswaroop Memorial University, Lucknow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37E"/>
                </a:solidFill>
              </a:rPr>
              <a:t>Feature Deep Dive — Multimodal &amp; Real-Time Ingestion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🖼️  Multimodal Input 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600200"/>
            <a:ext cx="347472" cy="34747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84048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5087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</a:rPr>
              <a:t>Input Sources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8013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Scanned PDFs, notice images,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timetable photos, fee receipts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404872"/>
            <a:ext cx="347472" cy="34747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84048" y="2404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3134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</a:rPr>
              <a:t>Vision Model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606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LLaVA / GPT-4V extracts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text + structure from images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3209544"/>
            <a:ext cx="347472" cy="34747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84048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1181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</a:rPr>
              <a:t>Text Normalization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4107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Extracted text cleaned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and formatted as chunks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" y="4014216"/>
            <a:ext cx="347472" cy="34747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84048" y="4014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9227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</a:rPr>
              <a:t>GraphRAG Ingestion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21538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Chunks fed into existing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knowledge graph pipeline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1005840"/>
            <a:ext cx="4114800" cy="38404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00600" y="1005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Real-Time Document Ingestion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64608" y="1600200"/>
            <a:ext cx="347472" cy="347472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64608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15087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</a:rPr>
              <a:t>File Watcher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18013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Watchdog library monitors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document upload folder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64608" y="2404872"/>
            <a:ext cx="347472" cy="347472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64608" y="2404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23134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</a:rPr>
              <a:t>Event Trigger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2606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New file detected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auto-processing initiated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64608" y="3209544"/>
            <a:ext cx="347472" cy="347472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64608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31181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</a:rPr>
              <a:t>Incremental Update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03520" y="34107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Only new chunks processed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— no full re-indexing needed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64608" y="4014216"/>
            <a:ext cx="347472" cy="347472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64608" y="4014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03520" y="39227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</a:rPr>
              <a:t>Live Graph Update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421538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Entities &amp; edges added 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</a:rPr>
              <a:t>existing knowledge graph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37E"/>
                </a:solidFill>
              </a:rPr>
              <a:t>Shri Ramswaroop Memorial University, Lucknow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37E"/>
                </a:solidFill>
              </a:rPr>
              <a:t>Feature Deep Dive — Multilingual Support (Hindi-English)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❑  Breaking Language Barriers in University Knowledge Access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1417320" cy="118872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6032" y="1508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(Hindi)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CCBC"/>
                </a:solidFill>
              </a:rPr>
              <a:t>"मेरी फीस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CCBC"/>
                </a:solidFill>
              </a:rPr>
              <a:t>कितनी है?"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09928" y="184708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7E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93392" y="1417320"/>
            <a:ext cx="141732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993392" y="1508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Language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93392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CCBC"/>
                </a:solidFill>
              </a:rPr>
              <a:t>IndicTrans2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CCBC"/>
                </a:solidFill>
              </a:rPr>
              <a:t>identifies Hindi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47288" y="184708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7E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30752" y="1417320"/>
            <a:ext cx="1417320" cy="11887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730752" y="1508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Translation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 English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30752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CCBC"/>
                </a:solidFill>
              </a:rPr>
              <a:t>Query → English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CCBC"/>
                </a:solidFill>
              </a:rPr>
              <a:t>for GraphRAG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84648" y="184708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7E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68112" y="1417320"/>
            <a:ext cx="1417320" cy="11887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68112" y="1508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GraphRAG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Retrieval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68112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CCBC"/>
                </a:solidFill>
              </a:rPr>
              <a:t>Processes English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CCBC"/>
                </a:solidFill>
              </a:rPr>
              <a:t>query on graph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22008" y="184708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7E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05472" y="1417320"/>
            <a:ext cx="1417320" cy="118872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205472" y="1508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Response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Hindi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05472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CCBC"/>
                </a:solidFill>
              </a:rPr>
              <a:t>Answer translated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CCBC"/>
                </a:solidFill>
              </a:rPr>
              <a:t>back to Hindi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Why This Matters: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20040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432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5760" y="37307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</a:rPr>
              <a:t>Inclusive Access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069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Hindi-medium students access university info without language friction.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23160" y="320040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42316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🏫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514600" y="37307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</a:rPr>
              <a:t>Wider Adoption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14600" y="4069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Non-English staff can query administrative documents directly.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20040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7200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🇮🇳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663440" y="37307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</a:rPr>
              <a:t>India-First Design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63440" y="4069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Aligned with NEP 2020's push for regional language education.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20840" y="320040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72084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812280" y="37307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</a:rPr>
              <a:t>Bidirectional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12280" y="40690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Works for both Hindi → English and English → Hindi seamlessly.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37E"/>
                </a:solidFill>
              </a:rPr>
              <a:t>Shri Ramswaroop Memorial University, Lucknow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37E"/>
                </a:solidFill>
              </a:rPr>
              <a:t>Updated System Architecture — AskGillu 2.0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❑  End-to-End Pipeline with New Components Highlighted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196596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325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INPUT LAYER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874520"/>
            <a:ext cx="1746504" cy="594360"/>
          </a:xfrm>
          <a:prstGeom prst="rect">
            <a:avLst/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18745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Text Query (EN/HI)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624328"/>
            <a:ext cx="1746504" cy="594360"/>
          </a:xfrm>
          <a:prstGeom prst="rect">
            <a:avLst/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26243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Image / Scanned PDF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3374136"/>
            <a:ext cx="1746504" cy="594360"/>
          </a:xfrm>
          <a:prstGeom prst="rect">
            <a:avLst/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3374136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Live Document Upload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41448" y="1325880"/>
            <a:ext cx="196596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441448" y="1325880"/>
            <a:ext cx="196596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487168" y="1325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PROCESSING LAYER ★ NEW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51176" y="1874520"/>
            <a:ext cx="1746504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578608" y="18745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Language Detection + IndicTrans2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51176" y="2624328"/>
            <a:ext cx="1746504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578608" y="26243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Vision Model (LLaVA)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51176" y="3374136"/>
            <a:ext cx="1746504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578608" y="3374136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File Watcher + Event Trigger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08576" y="132588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08576" y="1325880"/>
            <a:ext cx="1965960" cy="457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654296" y="1325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CORE ENGINE (GraphRAG)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18304" y="1874520"/>
            <a:ext cx="1746504" cy="594360"/>
          </a:xfrm>
          <a:prstGeom prst="rect">
            <a:avLst/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45736" y="18745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Document Chunking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18304" y="2624328"/>
            <a:ext cx="1746504" cy="594360"/>
          </a:xfrm>
          <a:prstGeom prst="rect">
            <a:avLst/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45736" y="26243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Entity Extraction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18304" y="3374136"/>
            <a:ext cx="1746504" cy="594360"/>
          </a:xfrm>
          <a:prstGeom prst="rect">
            <a:avLst/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45736" y="3374136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Knowledge Graph + Community Detection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75704" y="1325880"/>
            <a:ext cx="196596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F36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775704" y="1325880"/>
            <a:ext cx="1965960" cy="45720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821424" y="13258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AGENT LAYER ★ NEW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85432" y="1874520"/>
            <a:ext cx="1746504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912864" y="18745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Intent Classifier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85432" y="2624328"/>
            <a:ext cx="1746504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912864" y="26243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LangGraph Agent Router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85432" y="3374136"/>
            <a:ext cx="1746504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912864" y="3374136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Tool Registry (Fee, Booking, Grievance)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434840"/>
            <a:ext cx="8595360" cy="47548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74320" y="44348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OUTPUT: Multilingual Response  |  Action Confirmation  |  Retrieved Knowledge  |  Synthesized Summary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37E"/>
                </a:solidFill>
              </a:rPr>
              <a:t>Shri Ramswaroop Memorial University, Lucknow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37E"/>
                </a:solidFill>
              </a:rPr>
              <a:t>Project Timeline — 6-Week Execution Plan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❑  Phased Development Roadmap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51560" y="137160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444752" y="1554480"/>
            <a:ext cx="1280160" cy="0"/>
          </a:xfrm>
          <a:prstGeom prst="line">
            <a:avLst/>
          </a:prstGeom>
          <a:noFill/>
          <a:ln w="254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201168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1-2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</a:rPr>
              <a:t>Foundation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2834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Multimodal pipeline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Real-time ingestion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463040" cy="347472"/>
          </a:xfrm>
          <a:prstGeom prst="rect">
            <a:avLst/>
          </a:prstGeom>
          <a:solidFill>
            <a:srgbClr val="E8EAF6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Phase 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371600"/>
            <a:ext cx="365760" cy="36576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39312" y="1554480"/>
            <a:ext cx="1280160" cy="0"/>
          </a:xfrm>
          <a:prstGeom prst="line">
            <a:avLst/>
          </a:prstGeom>
          <a:noFill/>
          <a:ln w="254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468880" y="187452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468880" y="1874520"/>
            <a:ext cx="201168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468880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3-4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1B9A"/>
                </a:solidFill>
              </a:rPr>
              <a:t>Language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60320" y="2834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Hindi-English layer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Query translation testing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0" y="3749040"/>
            <a:ext cx="1463040" cy="347472"/>
          </a:xfrm>
          <a:prstGeom prst="rect">
            <a:avLst/>
          </a:prstGeom>
          <a:solidFill>
            <a:srgbClr val="E8EAF6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743200" y="3749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A1B9A"/>
                </a:solidFill>
              </a:rPr>
              <a:t>Phase 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40680" y="1371600"/>
            <a:ext cx="365760" cy="365760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833872" y="1554480"/>
            <a:ext cx="1280160" cy="0"/>
          </a:xfrm>
          <a:prstGeom prst="line">
            <a:avLst/>
          </a:prstGeom>
          <a:noFill/>
          <a:ln w="254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663440" y="187452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663440" y="1874520"/>
            <a:ext cx="2011680" cy="41148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663440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F360C"/>
                </a:solidFill>
              </a:rPr>
              <a:t>Agents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54880" y="2834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LangGraph setup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2-3 tool integrations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3749040"/>
            <a:ext cx="1463040" cy="347472"/>
          </a:xfrm>
          <a:prstGeom prst="rect">
            <a:avLst/>
          </a:prstGeom>
          <a:solidFill>
            <a:srgbClr val="E8EAF6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37760" y="3749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F360C"/>
                </a:solidFill>
              </a:rPr>
              <a:t>Phase 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35240" y="1371600"/>
            <a:ext cx="365760" cy="36576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858000" y="187452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858000" y="1874520"/>
            <a:ext cx="2011680" cy="4114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858000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4944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95C"/>
                </a:solidFill>
              </a:rPr>
              <a:t>Finalize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49440" y="2834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Integration testing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</a:rPr>
              <a:t>Demo + Report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32320" y="3749040"/>
            <a:ext cx="1463040" cy="347472"/>
          </a:xfrm>
          <a:prstGeom prst="rect">
            <a:avLst/>
          </a:prstGeom>
          <a:solidFill>
            <a:srgbClr val="E8EAF6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132320" y="3749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95C"/>
                </a:solidFill>
              </a:rPr>
              <a:t>Phase 4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</a:rPr>
              <a:t>Deliverables:  Working demo  •  Comparative evaluation (v1.0 vs v2.0)  •  Project report  •  Viva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237E"/>
                </a:solidFill>
              </a:rPr>
              <a:t>Shri Ramswaroop Memorial University, Lucknow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37E"/>
                </a:solidFill>
              </a:rPr>
              <a:t>Expected Results &amp; Evaluation Metrics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</a:rPr>
              <a:t>❑  How We Measure Success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595360" cy="25603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Baseline (v1.0)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Expected (v2.0)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6E7A"/>
                          </a:solidFill>
                        </a:rPr>
                        <a:t>Agentic RAG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6E7A"/>
                          </a:solidFill>
                        </a:rPr>
                        <a:t>Task completion rate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0% (not supported)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695C"/>
                          </a:solidFill>
                        </a:rPr>
                        <a:t>&gt; 85% accuracy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6E7A"/>
                          </a:solidFill>
                        </a:rPr>
                        <a:t>Multimodal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6E7A"/>
                          </a:solidFill>
                        </a:rPr>
                        <a:t>OCR + extraction accuracy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Not applicable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695C"/>
                          </a:solidFill>
                        </a:rPr>
                        <a:t>&gt; 90% extraction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6E7A"/>
                          </a:solidFill>
                        </a:rPr>
                        <a:t>Real-Time Ingestion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6E7A"/>
                          </a:solidFill>
                        </a:rPr>
                        <a:t>Update latency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Manual (hours)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695C"/>
                          </a:solidFill>
                        </a:rPr>
                        <a:t>&lt; 30 seconds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6E7A"/>
                          </a:solidFill>
                        </a:rPr>
                        <a:t>Multilingual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6E7A"/>
                          </a:solidFill>
                        </a:rPr>
                        <a:t>BLEU score (translation)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Not applicable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695C"/>
                          </a:solidFill>
                        </a:rPr>
                        <a:t>BLEU &gt; 0.65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solidFill>
            <a:srgbClr val="E8EAF6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114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</a:rPr>
              <a:t>Evaluation Approach</a:t>
            </a:r>
            <a:endParaRPr lang="en-US" sz="1200" dirty="0"/>
          </a:p>
        </p:txBody>
      </p:sp>
      <p:sp>
        <p:nvSpPr>
          <p:cNvPr id="7" name="Text 7"/>
          <p:cNvSpPr/>
          <p:nvPr/>
        </p:nvSpPr>
        <p:spPr>
          <a:xfrm>
            <a:off x="411480" y="431596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46E7A"/>
                </a:solidFill>
              </a:rPr>
              <a:t>Side-by-side comparison</a:t>
            </a:r>
            <a:r>
              <a:rPr lang="en-US" sz="1050" dirty="0">
                <a:solidFill>
                  <a:srgbClr val="546E7A"/>
                </a:solidFill>
              </a:rPr>
              <a:t> of AskGillu v1.0 vs v2.0 on identical queries  •  </a:t>
            </a:r>
            <a:r>
              <a:rPr lang="en-US" sz="1050" b="1" dirty="0">
                <a:solidFill>
                  <a:srgbClr val="546E7A"/>
                </a:solidFill>
              </a:rPr>
              <a:t>Real SRMU student volunteers</a:t>
            </a:r>
            <a:r>
              <a:rPr lang="en-US" sz="1050" dirty="0">
                <a:solidFill>
                  <a:srgbClr val="546E7A"/>
                </a:solidFill>
              </a:rPr>
              <a:t> for usability testing  •  </a:t>
            </a:r>
            <a:r>
              <a:rPr lang="en-US" sz="1050" b="1" dirty="0">
                <a:solidFill>
                  <a:srgbClr val="546E7A"/>
                </a:solidFill>
              </a:rPr>
              <a:t>Automated benchmarks</a:t>
            </a:r>
            <a:r>
              <a:rPr lang="en-US" sz="1050" dirty="0">
                <a:solidFill>
                  <a:srgbClr val="546E7A"/>
                </a:solidFill>
              </a:rPr>
              <a:t> for translation quality and agent tool accuracy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</a:rPr>
              <a:t>Shri Ramswaroop Memorial University, Lucknow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 &amp; Future Scope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</a:rPr>
              <a:t>AskGillu 2.0 transforms the GraphRAG-based knowledge system into a fully intelligent, inclusive, and actionable university assistant.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737360" cy="1280160"/>
          </a:xfrm>
          <a:prstGeom prst="rect">
            <a:avLst/>
          </a:prstGeom>
          <a:solidFill>
            <a:srgbClr val="3949AB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20756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From Q&amp;A to real actions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600200"/>
            <a:ext cx="1737360" cy="1280160"/>
          </a:xfrm>
          <a:prstGeom prst="rect">
            <a:avLst/>
          </a:prstGeom>
          <a:solidFill>
            <a:srgbClr val="3949AB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0" y="16642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60320" y="20756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Multimodal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Text + Images + PDFs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600200"/>
            <a:ext cx="1737360" cy="1280160"/>
          </a:xfrm>
          <a:prstGeom prst="rect">
            <a:avLst/>
          </a:prstGeom>
          <a:solidFill>
            <a:srgbClr val="3949AB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0" y="16642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0" y="20756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Real-Time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Live knowledge updates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1600200"/>
            <a:ext cx="1737360" cy="1280160"/>
          </a:xfrm>
          <a:prstGeom prst="rect">
            <a:avLst/>
          </a:prstGeom>
          <a:solidFill>
            <a:srgbClr val="3949AB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83680" y="16642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583680" y="20756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Multilingual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Hindi-English support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999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401568"/>
            <a:ext cx="4069080" cy="384048"/>
          </a:xfrm>
          <a:prstGeom prst="rect">
            <a:avLst/>
          </a:prstGeom>
          <a:solidFill>
            <a:srgbClr val="1A237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34015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→  Voice interface (speech-to-text in Hindi)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877056"/>
            <a:ext cx="4069080" cy="384048"/>
          </a:xfrm>
          <a:prstGeom prst="rect">
            <a:avLst/>
          </a:prstGeom>
          <a:solidFill>
            <a:srgbClr val="1A237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8770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→  Mobile app integration for AskGillu 2.0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401568"/>
            <a:ext cx="4069080" cy="384048"/>
          </a:xfrm>
          <a:prstGeom prst="rect">
            <a:avLst/>
          </a:prstGeom>
          <a:solidFill>
            <a:srgbClr val="1A237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37760" y="34015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→  Extend to multi-university federated setup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877056"/>
            <a:ext cx="4069080" cy="384048"/>
          </a:xfrm>
          <a:prstGeom prst="rect">
            <a:avLst/>
          </a:prstGeom>
          <a:solidFill>
            <a:srgbClr val="1A237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37760" y="38770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→  SAP ERP domain adaptation (enterprise version)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1040</Words>
  <Application>Microsoft Office PowerPoint</Application>
  <PresentationFormat>On-screen Show (16:9)</PresentationFormat>
  <Paragraphs>270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AskGillu 2.0</dc:title>
  <dc:subject>PptxGenJS Presentation</dc:subject>
  <dc:creator>PptxGenJS</dc:creator>
  <cp:lastModifiedBy>Shrinjay Shresth</cp:lastModifiedBy>
  <cp:revision>4</cp:revision>
  <dcterms:created xsi:type="dcterms:W3CDTF">2026-03-18T17:19:43Z</dcterms:created>
  <dcterms:modified xsi:type="dcterms:W3CDTF">2026-04-17T14:35:29Z</dcterms:modified>
</cp:coreProperties>
</file>